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73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6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290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IoT Academy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Интеллектуальная система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мониторинга активности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и безопасности </a:t>
            </a:r>
            <a:r>
              <a:rPr lang="en-US" sz="2800" b="1" dirty="0" err="1">
                <a:solidFill>
                  <a:srgbClr val="FFFFFF"/>
                </a:solidFill>
              </a:rPr>
              <a:t>пожилых</a:t>
            </a:r>
            <a:r>
              <a:rPr lang="en-US" sz="2800" b="1" dirty="0">
                <a:solidFill>
                  <a:srgbClr val="FFFFFF"/>
                </a:solidFill>
              </a:rPr>
              <a:t> </a:t>
            </a:r>
            <a:r>
              <a:rPr lang="en-US" sz="2800" b="1" dirty="0" err="1">
                <a:solidFill>
                  <a:srgbClr val="FFFFFF"/>
                </a:solidFill>
              </a:rPr>
              <a:t>людей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E0"/>
                </a:solidFill>
              </a:rPr>
              <a:t>на основе интернета вещей (IoT)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260" y="3901948"/>
            <a:ext cx="8412480" cy="46228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Text 6"/>
          <p:cNvSpPr/>
          <p:nvPr/>
        </p:nvSpPr>
        <p:spPr>
          <a:xfrm>
            <a:off x="365760" y="37297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8BA3C7"/>
                </a:solidFill>
              </a:rPr>
              <a:t>    Выполнили</a:t>
            </a:r>
            <a:r>
              <a:rPr lang="en-US" sz="1200" dirty="0">
                <a:solidFill>
                  <a:srgbClr val="8BA3C7"/>
                </a:solidFill>
              </a:rPr>
              <a:t>: </a:t>
            </a:r>
            <a:r>
              <a:rPr lang="ru-RU" sz="1200" dirty="0" err="1">
                <a:solidFill>
                  <a:srgbClr val="8BA3C7"/>
                </a:solidFill>
              </a:rPr>
              <a:t>Тулусоева</a:t>
            </a:r>
            <a:r>
              <a:rPr lang="ru-RU" sz="1200" dirty="0">
                <a:solidFill>
                  <a:srgbClr val="8BA3C7"/>
                </a:solidFill>
              </a:rPr>
              <a:t> Юлия АСУБ-23-1,</a:t>
            </a:r>
            <a:r>
              <a:rPr lang="en-US" sz="1200" dirty="0">
                <a:solidFill>
                  <a:srgbClr val="8BA3C7"/>
                </a:solidFill>
              </a:rPr>
              <a:t> </a:t>
            </a:r>
            <a:r>
              <a:rPr lang="ru-RU" sz="1200" dirty="0" err="1">
                <a:solidFill>
                  <a:srgbClr val="8BA3C7"/>
                </a:solidFill>
              </a:rPr>
              <a:t>Харчук</a:t>
            </a:r>
            <a:r>
              <a:rPr lang="ru-RU" sz="1200" dirty="0">
                <a:solidFill>
                  <a:srgbClr val="8BA3C7"/>
                </a:solidFill>
              </a:rPr>
              <a:t> Ксения АСУБ-23-1 , Садыков Руслан АСУБ-23-1 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1371600"/>
            <a:ext cx="109728" cy="109728"/>
          </a:xfrm>
          <a:prstGeom prst="ellipse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69480" y="1371600"/>
            <a:ext cx="109728" cy="109728"/>
          </a:xfrm>
          <a:prstGeom prst="ellipse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1371600"/>
            <a:ext cx="109728" cy="109728"/>
          </a:xfrm>
          <a:prstGeom prst="ellipse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1371600"/>
            <a:ext cx="109728" cy="109728"/>
          </a:xfrm>
          <a:prstGeom prst="ellipse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1371600"/>
            <a:ext cx="109728" cy="109728"/>
          </a:xfrm>
          <a:prstGeom prst="ellipse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1828800"/>
            <a:ext cx="109728" cy="109728"/>
          </a:xfrm>
          <a:prstGeom prst="ellipse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1828800"/>
            <a:ext cx="109728" cy="109728"/>
          </a:xfrm>
          <a:prstGeom prst="ellipse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828800"/>
            <a:ext cx="109728" cy="109728"/>
          </a:xfrm>
          <a:prstGeom prst="ellipse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828800"/>
            <a:ext cx="109728" cy="109728"/>
          </a:xfrm>
          <a:prstGeom prst="ellipse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2286000"/>
            <a:ext cx="109728" cy="10972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2286000"/>
            <a:ext cx="109728" cy="10972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2286000"/>
            <a:ext cx="109728" cy="10972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2286000"/>
            <a:ext cx="109728" cy="10972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2286000"/>
            <a:ext cx="109728" cy="10972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2286000"/>
            <a:ext cx="109728" cy="10972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Проблема и актуальность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560320" cy="7315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28A0"/>
                </a:solidFill>
              </a:rPr>
              <a:t>30%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пожилых людей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живут одни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56032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51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</a:rPr>
              <a:t>70%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1783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несчастных случаев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происходят дома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25603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51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</a:rPr>
              <a:t>24/7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35040" y="1783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необходим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мониторинг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8412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</a:rPr>
              <a:t>Существующие проблемы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310128"/>
            <a:ext cx="164592" cy="164592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20040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Пожилые люди без присмотра подвержены риску падений и ухудшения здоровья без своевременной помощи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85616"/>
            <a:ext cx="164592" cy="164592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67588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Родственники нуждаются в оперативной информации о состоянии близкого человека, но не могут быть рядом постоянно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261104"/>
            <a:ext cx="164592" cy="164592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1513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Существующие решения дорогостоящие или требуют специальных навыков для использования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Цели и задачи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48590"/>
            <a:ext cx="8321040" cy="9144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399"/>
            <a:ext cx="3448878" cy="381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08226"/>
            <a:ext cx="7281407" cy="795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Разработать доступную IoT-систему мониторинга активности пожилых людей,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проживающих одних, с автоматическими уведомлениями для родственников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11680"/>
            <a:ext cx="502920" cy="1188720"/>
          </a:xfrm>
          <a:prstGeom prst="rect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116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12140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Аппаратная часть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4688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Подключить PIR датчик движения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и геркон к ESP32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01168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011680"/>
            <a:ext cx="502920" cy="1188720"/>
          </a:xfrm>
          <a:prstGeom prst="rect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0116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212140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Программная часть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24688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Написать прошивку с логикой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анализа состояния человека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83280"/>
            <a:ext cx="502920" cy="1188720"/>
          </a:xfrm>
          <a:prstGeom prst="rect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832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49300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Уведомления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8404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Настроить push-уведомления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через ntfy.sh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38328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383280"/>
            <a:ext cx="502920" cy="1188720"/>
          </a:xfrm>
          <a:prstGeom prst="rect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3832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57800" y="349300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Тестирование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38404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Проверить все сценарии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работы системы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Архитектура системы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450340"/>
            <a:ext cx="2011680" cy="10058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4503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PIR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Датчик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19075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FF"/>
                </a:solidFill>
              </a:rPr>
              <a:t>HC-SR501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0FF"/>
                </a:solidFill>
              </a:rPr>
              <a:t>Движение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2821940"/>
            <a:ext cx="2011680" cy="10058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28219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Геркон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8120" y="31424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FF"/>
                </a:solidFill>
              </a:rPr>
              <a:t>KY-025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0FF"/>
                </a:solidFill>
              </a:rPr>
              <a:t>Дверь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1953260"/>
            <a:ext cx="731520" cy="0"/>
          </a:xfrm>
          <a:prstGeom prst="line">
            <a:avLst/>
          </a:prstGeom>
          <a:noFill/>
          <a:ln w="31750">
            <a:solidFill>
              <a:srgbClr val="00A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889252"/>
            <a:ext cx="137160" cy="128016"/>
          </a:xfrm>
          <a:prstGeom prst="rect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3324860"/>
            <a:ext cx="731520" cy="0"/>
          </a:xfrm>
          <a:prstGeom prst="line">
            <a:avLst/>
          </a:prstGeom>
          <a:noFill/>
          <a:ln w="31750">
            <a:solidFill>
              <a:srgbClr val="00A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3260852"/>
            <a:ext cx="137160" cy="128016"/>
          </a:xfrm>
          <a:prstGeom prst="rect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48940" y="1633220"/>
            <a:ext cx="2011680" cy="2286000"/>
          </a:xfrm>
          <a:prstGeom prst="rect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26080" y="16332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ESP32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26080" y="2227580"/>
            <a:ext cx="2011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• Wi-Fi 2.4GHz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• Анализ датчиков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• HTTP запросы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• Логика тревог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• NTP время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776220"/>
            <a:ext cx="54864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0680" y="2712212"/>
            <a:ext cx="137160" cy="12801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5110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HTTP POST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0" y="1633220"/>
            <a:ext cx="1828800" cy="2286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6332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ntfy.sh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222758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• Публичный сервер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• Push-уведомления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• Бесплатно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• Без регистрации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2776220"/>
            <a:ext cx="36576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2267712"/>
            <a:ext cx="137160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1633220"/>
            <a:ext cx="1188720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6789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89520" y="231902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ntfy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Родственник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Компоненты системы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1508760"/>
          </a:xfrm>
          <a:prstGeom prst="rect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987552"/>
            <a:ext cx="1463040" cy="1325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4871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ESP32 Dev Module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Основной микроконтроллер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21208" y="3200400"/>
            <a:ext cx="64008" cy="64008"/>
          </a:xfrm>
          <a:prstGeom prst="rect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3067812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Dual-core 240 MHz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1208" y="3584448"/>
            <a:ext cx="64008" cy="64008"/>
          </a:xfrm>
          <a:prstGeom prst="rect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34518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Wi-Fi 2.4 ГГц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1208" y="3968496"/>
            <a:ext cx="64008" cy="64008"/>
          </a:xfrm>
          <a:prstGeom prst="rect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" y="3835908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520 KB SRAM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1208" y="4352544"/>
            <a:ext cx="64008" cy="64008"/>
          </a:xfrm>
          <a:prstGeom prst="rect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" y="4219956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Flash: 4 MB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0" y="914400"/>
            <a:ext cx="26517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914400"/>
            <a:ext cx="2651760" cy="150876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94760" y="987552"/>
            <a:ext cx="1463040" cy="1325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00400" y="24871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PIR HC-SR501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20040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Датчик движения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401568" y="3200400"/>
            <a:ext cx="64008" cy="64008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547872" y="3067812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Угол обзора: 120°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401568" y="3584448"/>
            <a:ext cx="64008" cy="64008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547872" y="34518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Дальность: до 7 м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401568" y="3968496"/>
            <a:ext cx="64008" cy="64008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47872" y="3835908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Питание: 5–20 В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401568" y="4352544"/>
            <a:ext cx="64008" cy="64008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47872" y="4219956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Прогрев: 30 сек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80760" y="914400"/>
            <a:ext cx="26517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080760" y="914400"/>
            <a:ext cx="2651760" cy="1508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75120" y="987552"/>
            <a:ext cx="1463040" cy="1325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080760" y="24871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Геркон KY-025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08076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Датчик двери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281928" y="3200400"/>
            <a:ext cx="64008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428232" y="3067812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Магнитный датчик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281928" y="3584448"/>
            <a:ext cx="64008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428232" y="34518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Цифровой выход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281928" y="3968496"/>
            <a:ext cx="64008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428232" y="3835908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Питание: 3.3–5 В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6281928" y="4352544"/>
            <a:ext cx="64008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428232" y="4219956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Без касания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Код: подключение к Wi-Fi и ntfy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12064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0584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0058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00584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Фрагмент 1 из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325880"/>
            <a:ext cx="4892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&lt;WiFi.h&gt;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&lt;HTTPClient.h&gt;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&lt;time.h&gt;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ssid = "Julia123";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ntfyTopic = "CareHome_IrkutskIoT";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connectWiFi()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WiFi.begin(ssid, password);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(WiFi.status() != WL_CONNECTED){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delay(500);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ru-RU" sz="1000" dirty="0">
              <a:solidFill>
                <a:srgbClr val="FFFF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sendNotification(String title, String msg)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WiFiClient client;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HTTPClient http;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url = String("http://ntfy.sh/")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+ ntfyTopic;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http.begin(client, url);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http.addHeader("Title", title);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http.POST(msg);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914400"/>
            <a:ext cx="3154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2" name="Shape 10"/>
          <p:cNvSpPr/>
          <p:nvPr/>
        </p:nvSpPr>
        <p:spPr>
          <a:xfrm>
            <a:off x="5669280" y="914400"/>
            <a:ext cx="3154680" cy="365760"/>
          </a:xfrm>
          <a:prstGeom prst="rect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914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Пояснение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1426464"/>
            <a:ext cx="201168" cy="201168"/>
          </a:xfrm>
          <a:prstGeom prst="ellipse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3716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WiFi.begin()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160934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Подключение к точке доступа по имени и паролю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80760" y="20299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22677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06440" y="2121408"/>
            <a:ext cx="201168" cy="201168"/>
          </a:xfrm>
          <a:prstGeom prst="ellipse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06654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ntfy.sh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3042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Бесплатный </a:t>
            </a:r>
            <a:r>
              <a:rPr lang="en-US" sz="950" dirty="0" err="1">
                <a:solidFill>
                  <a:srgbClr val="64748B"/>
                </a:solidFill>
              </a:rPr>
              <a:t>сервер</a:t>
            </a:r>
            <a:r>
              <a:rPr lang="en-US" sz="950" dirty="0">
                <a:solidFill>
                  <a:srgbClr val="64748B"/>
                </a:solidFill>
              </a:rPr>
              <a:t> push-</a:t>
            </a:r>
            <a:r>
              <a:rPr lang="en-US" sz="950" dirty="0" err="1">
                <a:solidFill>
                  <a:srgbClr val="64748B"/>
                </a:solidFill>
              </a:rPr>
              <a:t>уведомлений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06440" y="2779776"/>
            <a:ext cx="201168" cy="201168"/>
          </a:xfrm>
          <a:prstGeom prst="ellipse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7249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http.POST()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296265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Отправка текста уведомления на сервер ntfy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06440" y="3438144"/>
            <a:ext cx="201168" cy="201168"/>
          </a:xfrm>
          <a:prstGeom prst="ellipse">
            <a:avLst/>
          </a:prstGeom>
          <a:solidFill>
            <a:srgbClr val="00A8E0"/>
          </a:solidFill>
          <a:ln w="12700">
            <a:solidFill>
              <a:srgbClr val="00A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33832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Title header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362102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Заголовок уведомления на телефоне родственника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Код: датчик движения PIR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12064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0584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0058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00584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Фрагмент 2 из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325880"/>
            <a:ext cx="4892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pirPin = 18;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long lastMotionTime =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noMotionAlertSent = false;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В loop():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pirState = digitalRead(pirPin);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(pirState != lastPirState)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Serial.println(pirState == HIGH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"Движение обнаружено"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"Движения нет");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lastPirState = pirState;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(pirState == HIGH &amp;&amp; personHome)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lastMotionTime = millis();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noMotionAlertSent = false;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(waitingAfterDoor)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waitingAfterDoor = false;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914400"/>
            <a:ext cx="3154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914400"/>
            <a:ext cx="3154680" cy="36576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914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Пояснение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1426464"/>
            <a:ext cx="201168" cy="20116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3716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digitalRead(pirPin)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160934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Считывает сигнал с PIR датчика: HIGH = движение есть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2084832"/>
            <a:ext cx="201168" cy="20116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0299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lastMotionTime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22677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Запоминает момент последнего движения для отсчёта таймера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06440" y="2743200"/>
            <a:ext cx="201168" cy="20116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68833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noMotionAlertSent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926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Флаг: тревога уже отправлена, не отправлять повторно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06440" y="3401568"/>
            <a:ext cx="201168" cy="20116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334670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waitingAfterDoor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35844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Если была дверь — движение означает что человек дома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06440" y="4059936"/>
            <a:ext cx="201168" cy="20116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400507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personHome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424281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Отслеживаем дома ли человек, чтоб не слать лишних тревог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Код: </a:t>
            </a:r>
            <a:r>
              <a:rPr lang="en-US" sz="2200" b="1" dirty="0" err="1">
                <a:solidFill>
                  <a:srgbClr val="FFFFFF"/>
                </a:solidFill>
              </a:rPr>
              <a:t>геркон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12064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0584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0058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00584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Фрагмент 3 из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4892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reedState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!=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lastReedState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reedState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LOW)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Дверь открылась");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Дверь закрылась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personHome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Человека не было 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personHome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true;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noMotionAlertSent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false;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lastMotionTime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now;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waitingAfterDoor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false;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Человек вернулся домой");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sendNotification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Информация", "Человек вернулся домой. Мониторинг возобновлён.");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Человек был дома 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waitingAfterDoor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true;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doorClosedTime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now;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Дверь закрылась — ожидаем движение 20 сек...");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lastReedState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reedState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914400"/>
            <a:ext cx="3154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914400"/>
            <a:ext cx="315468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914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Пояснение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2167128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1122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reedState == HIGH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3500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Геркон: HIGH = дверь закрылась (магнит отдалился)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06440" y="2825496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7706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waitingAfterDoor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30083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После закрытия двери ждём движение — ушёл или нет?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06440" y="3483864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34290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personHome = false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366674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Если нет движения после двери — человек ушёл из дома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Результаты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ru-RU" sz="2200" b="1" dirty="0">
                <a:solidFill>
                  <a:srgbClr val="FFFFFF"/>
                </a:solidFill>
              </a:rPr>
              <a:t>тестов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0" y="10972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16484" y="950976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109728" cy="1920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7067" y="1226312"/>
            <a:ext cx="3867912" cy="106639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" y="2542032"/>
            <a:ext cx="3566160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" y="254203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Сценарий: Запуск системы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09160" y="91440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914400"/>
            <a:ext cx="109728" cy="1920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64608" y="1226312"/>
            <a:ext cx="3867912" cy="11602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910328" y="2542032"/>
            <a:ext cx="3566160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10328" y="254203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Сценарий: Нет движения — тревога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274320" y="2990088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74320" y="2990088"/>
            <a:ext cx="109728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9768" y="3347293"/>
            <a:ext cx="3867911" cy="109524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75488" y="4617720"/>
            <a:ext cx="3566160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5488" y="46177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Сценарий: Человек ушёл из дома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709160" y="2990088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709160" y="2990088"/>
            <a:ext cx="109728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64608" y="3212719"/>
            <a:ext cx="3867912" cy="1249553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4910328" y="4617720"/>
            <a:ext cx="3566160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910328" y="46177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Сценарий: Человек вернулся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bg1"/>
                </a:solidFill>
              </a:rPr>
              <a:t>Итоги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и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перспективы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474720"/>
          </a:xfrm>
          <a:prstGeom prst="rect">
            <a:avLst/>
          </a:prstGeom>
          <a:solidFill>
            <a:srgbClr val="162040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E0"/>
                </a:solidFill>
              </a:rPr>
              <a:t>✓  Что реализовано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Подключение ESP32 + PIR + геркон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568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Анализ движения и состояния двери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4140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Push-уведомления через ntfy.sh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9443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8712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Логика ухода и возвращения домой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4015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3284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Защита от ложных тревог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785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Успешное тестирование всех сценариев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4023360" cy="3474720"/>
          </a:xfrm>
          <a:prstGeom prst="rect">
            <a:avLst/>
          </a:prstGeom>
          <a:solidFill>
            <a:srgbClr val="162040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E0"/>
                </a:solidFill>
              </a:rPr>
              <a:t>→  Перспективы развития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38928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56632" y="1831996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7405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Ночной режим — отключение тревог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56632" y="2289196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1977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Несколько комнат — несколько PIR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56632" y="2746396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6549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Мобильное приложение </a:t>
            </a:r>
            <a:r>
              <a:rPr lang="en-US" sz="1050" dirty="0" err="1">
                <a:solidFill>
                  <a:srgbClr val="CBD5E1"/>
                </a:solidFill>
              </a:rPr>
              <a:t>с</a:t>
            </a:r>
            <a:r>
              <a:rPr lang="en-US" sz="1050" dirty="0">
                <a:solidFill>
                  <a:srgbClr val="CBD5E1"/>
                </a:solidFill>
              </a:rPr>
              <a:t> </a:t>
            </a:r>
            <a:r>
              <a:rPr lang="en-US" sz="1050" dirty="0" err="1">
                <a:solidFill>
                  <a:srgbClr val="CBD5E1"/>
                </a:solidFill>
              </a:rPr>
              <a:t>историей</a:t>
            </a:r>
            <a:r>
              <a:rPr lang="ru-RU" sz="1050" dirty="0">
                <a:solidFill>
                  <a:srgbClr val="CBD5E1"/>
                </a:solidFill>
              </a:rPr>
              <a:t> и персональными настройками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56632" y="3203596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31121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Интеграция с умным домом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56632" y="3660796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35693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Датчик дыма / утечки газа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848</Words>
  <Application>Microsoft Office PowerPoint</Application>
  <PresentationFormat>Экран (16:9)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kharchuk131104@mail.ru</cp:lastModifiedBy>
  <cp:revision>9</cp:revision>
  <dcterms:created xsi:type="dcterms:W3CDTF">2026-05-28T08:48:30Z</dcterms:created>
  <dcterms:modified xsi:type="dcterms:W3CDTF">2026-06-03T18:04:38Z</dcterms:modified>
</cp:coreProperties>
</file>